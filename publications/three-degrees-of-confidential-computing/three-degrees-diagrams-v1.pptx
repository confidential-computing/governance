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308" r:id="rId2"/>
    <p:sldId id="330" r:id="rId3"/>
    <p:sldId id="328" r:id="rId4"/>
    <p:sldId id="311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7D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7"/>
    <p:restoredTop sz="94615"/>
  </p:normalViewPr>
  <p:slideViewPr>
    <p:cSldViewPr snapToGrid="0">
      <p:cViewPr varScale="1">
        <p:scale>
          <a:sx n="137" d="100"/>
          <a:sy n="137" d="100"/>
        </p:scale>
        <p:origin x="208" y="2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79EFFA66-E99E-11BD-AA1A-255479B2C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095e9a27f_0_246:notes">
            <a:extLst>
              <a:ext uri="{FF2B5EF4-FFF2-40B4-BE49-F238E27FC236}">
                <a16:creationId xmlns:a16="http://schemas.microsoft.com/office/drawing/2014/main" id="{E86F984D-D05F-F9FA-F327-BBE1A9C00F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c095e9a27f_0_246:notes">
            <a:extLst>
              <a:ext uri="{FF2B5EF4-FFF2-40B4-BE49-F238E27FC236}">
                <a16:creationId xmlns:a16="http://schemas.microsoft.com/office/drawing/2014/main" id="{0B45AC1D-4BB6-EE93-251A-69B938671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4694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10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060EE5E2-D43B-4532-E8F2-FCC42341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">
            <a:extLst>
              <a:ext uri="{FF2B5EF4-FFF2-40B4-BE49-F238E27FC236}">
                <a16:creationId xmlns:a16="http://schemas.microsoft.com/office/drawing/2014/main" id="{6AE78BE7-46F3-CBD9-D6EC-5748A5ADD8F1}"/>
              </a:ext>
            </a:extLst>
          </p:cNvPr>
          <p:cNvSpPr/>
          <p:nvPr/>
        </p:nvSpPr>
        <p:spPr>
          <a:xfrm>
            <a:off x="6264975" y="317500"/>
            <a:ext cx="2770500" cy="466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7">
            <a:extLst>
              <a:ext uri="{FF2B5EF4-FFF2-40B4-BE49-F238E27FC236}">
                <a16:creationId xmlns:a16="http://schemas.microsoft.com/office/drawing/2014/main" id="{EFB18559-C362-B117-A05D-6DC0379E28A3}"/>
              </a:ext>
            </a:extLst>
          </p:cNvPr>
          <p:cNvSpPr/>
          <p:nvPr/>
        </p:nvSpPr>
        <p:spPr>
          <a:xfrm rot="3656007">
            <a:off x="7123150" y="2302874"/>
            <a:ext cx="1816703" cy="369302"/>
          </a:xfrm>
          <a:prstGeom prst="flowChartAlternateProcess">
            <a:avLst/>
          </a:prstGeom>
          <a:solidFill>
            <a:srgbClr val="00B050"/>
          </a:solidFill>
          <a:ln w="9525">
            <a:solidFill>
              <a:srgbClr val="1A1F2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7">
            <a:extLst>
              <a:ext uri="{FF2B5EF4-FFF2-40B4-BE49-F238E27FC236}">
                <a16:creationId xmlns:a16="http://schemas.microsoft.com/office/drawing/2014/main" id="{71ACC653-C8EC-CC6E-82A0-CE798F293EE6}"/>
              </a:ext>
            </a:extLst>
          </p:cNvPr>
          <p:cNvSpPr/>
          <p:nvPr/>
        </p:nvSpPr>
        <p:spPr>
          <a:xfrm>
            <a:off x="256525" y="317513"/>
            <a:ext cx="2770500" cy="466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4" name="Google Shape;254;p17" descr="Create a simpler server.">
            <a:extLst>
              <a:ext uri="{FF2B5EF4-FFF2-40B4-BE49-F238E27FC236}">
                <a16:creationId xmlns:a16="http://schemas.microsoft.com/office/drawing/2014/main" id="{08166269-811A-5D02-A361-925343B409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905" r="22513"/>
          <a:stretch/>
        </p:blipFill>
        <p:spPr>
          <a:xfrm>
            <a:off x="376050" y="3043717"/>
            <a:ext cx="779775" cy="1331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7" descr="Create a simpler server.">
            <a:extLst>
              <a:ext uri="{FF2B5EF4-FFF2-40B4-BE49-F238E27FC236}">
                <a16:creationId xmlns:a16="http://schemas.microsoft.com/office/drawing/2014/main" id="{E4503214-BD29-6F09-239C-C728D531EF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905" r="22513"/>
          <a:stretch/>
        </p:blipFill>
        <p:spPr>
          <a:xfrm>
            <a:off x="1251888" y="3043717"/>
            <a:ext cx="779775" cy="1331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7" descr="Create a simpler server.">
            <a:extLst>
              <a:ext uri="{FF2B5EF4-FFF2-40B4-BE49-F238E27FC236}">
                <a16:creationId xmlns:a16="http://schemas.microsoft.com/office/drawing/2014/main" id="{52007926-125C-FE8A-CFBA-89BC4DF304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905" r="22513"/>
          <a:stretch/>
        </p:blipFill>
        <p:spPr>
          <a:xfrm>
            <a:off x="2127725" y="3043717"/>
            <a:ext cx="779775" cy="133115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7">
            <a:extLst>
              <a:ext uri="{FF2B5EF4-FFF2-40B4-BE49-F238E27FC236}">
                <a16:creationId xmlns:a16="http://schemas.microsoft.com/office/drawing/2014/main" id="{025D93DF-00EA-B223-0A5B-0819AABF2F09}"/>
              </a:ext>
            </a:extLst>
          </p:cNvPr>
          <p:cNvSpPr txBox="1"/>
          <p:nvPr/>
        </p:nvSpPr>
        <p:spPr>
          <a:xfrm>
            <a:off x="518151" y="4336225"/>
            <a:ext cx="2227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F2E"/>
                </a:solidFill>
              </a:rPr>
              <a:t>Hardware isolation against host attacks</a:t>
            </a:r>
            <a:endParaRPr>
              <a:solidFill>
                <a:srgbClr val="1A1F2E"/>
              </a:solidFill>
            </a:endParaRPr>
          </a:p>
        </p:txBody>
      </p:sp>
      <p:sp>
        <p:nvSpPr>
          <p:cNvPr id="260" name="Google Shape;260;p17">
            <a:extLst>
              <a:ext uri="{FF2B5EF4-FFF2-40B4-BE49-F238E27FC236}">
                <a16:creationId xmlns:a16="http://schemas.microsoft.com/office/drawing/2014/main" id="{0841BD17-6ADB-148B-81D8-6BE1A1B89A34}"/>
              </a:ext>
            </a:extLst>
          </p:cNvPr>
          <p:cNvSpPr/>
          <p:nvPr/>
        </p:nvSpPr>
        <p:spPr>
          <a:xfrm>
            <a:off x="3320513" y="317513"/>
            <a:ext cx="2770500" cy="466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1" name="Google Shape;261;p17" descr="Create a simpler server.">
            <a:extLst>
              <a:ext uri="{FF2B5EF4-FFF2-40B4-BE49-F238E27FC236}">
                <a16:creationId xmlns:a16="http://schemas.microsoft.com/office/drawing/2014/main" id="{A7909CD7-9C2C-D3A6-A158-326A392958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905" r="22513"/>
          <a:stretch/>
        </p:blipFill>
        <p:spPr>
          <a:xfrm>
            <a:off x="3440038" y="3043717"/>
            <a:ext cx="779775" cy="1331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7" descr="Make the cylinder 3 levels instead of 2.">
            <a:extLst>
              <a:ext uri="{FF2B5EF4-FFF2-40B4-BE49-F238E27FC236}">
                <a16:creationId xmlns:a16="http://schemas.microsoft.com/office/drawing/2014/main" id="{7B0039F3-C2ED-E8A5-B155-309974FA19B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077" t="13314" r="21791" b="12967"/>
          <a:stretch/>
        </p:blipFill>
        <p:spPr>
          <a:xfrm>
            <a:off x="4411801" y="895256"/>
            <a:ext cx="779775" cy="10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7" descr="Create a simpler server.">
            <a:extLst>
              <a:ext uri="{FF2B5EF4-FFF2-40B4-BE49-F238E27FC236}">
                <a16:creationId xmlns:a16="http://schemas.microsoft.com/office/drawing/2014/main" id="{0906E8A4-F163-A02E-3D07-2F6E45976A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905" r="22513"/>
          <a:stretch/>
        </p:blipFill>
        <p:spPr>
          <a:xfrm>
            <a:off x="4315875" y="3043717"/>
            <a:ext cx="779775" cy="1331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7" descr="Create a simpler server.">
            <a:extLst>
              <a:ext uri="{FF2B5EF4-FFF2-40B4-BE49-F238E27FC236}">
                <a16:creationId xmlns:a16="http://schemas.microsoft.com/office/drawing/2014/main" id="{E874D6C5-BAB6-7371-609E-149522EDED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905" r="22513"/>
          <a:stretch/>
        </p:blipFill>
        <p:spPr>
          <a:xfrm>
            <a:off x="5191713" y="3043717"/>
            <a:ext cx="779775" cy="13311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" name="Google Shape;265;p17">
            <a:extLst>
              <a:ext uri="{FF2B5EF4-FFF2-40B4-BE49-F238E27FC236}">
                <a16:creationId xmlns:a16="http://schemas.microsoft.com/office/drawing/2014/main" id="{5F445B96-49D7-B507-8E5C-EA4CB481DACA}"/>
              </a:ext>
            </a:extLst>
          </p:cNvPr>
          <p:cNvCxnSpPr/>
          <p:nvPr/>
        </p:nvCxnSpPr>
        <p:spPr>
          <a:xfrm rot="10800000" flipH="1">
            <a:off x="4651471" y="1895400"/>
            <a:ext cx="11100" cy="1220400"/>
          </a:xfrm>
          <a:prstGeom prst="straightConnector1">
            <a:avLst/>
          </a:prstGeom>
          <a:noFill/>
          <a:ln w="38100">
            <a:solidFill>
              <a:srgbClr val="00B050"/>
            </a:solidFill>
            <a:headEnd type="none" w="med" len="med"/>
            <a:tailEnd type="arrow" w="med" len="med"/>
          </a:ln>
        </p:spPr>
      </p:cxnSp>
      <p:cxnSp>
        <p:nvCxnSpPr>
          <p:cNvPr id="266" name="Google Shape;266;p17">
            <a:extLst>
              <a:ext uri="{FF2B5EF4-FFF2-40B4-BE49-F238E27FC236}">
                <a16:creationId xmlns:a16="http://schemas.microsoft.com/office/drawing/2014/main" id="{EBE36075-E6F5-40CD-9018-BABC3B45A9BA}"/>
              </a:ext>
            </a:extLst>
          </p:cNvPr>
          <p:cNvCxnSpPr/>
          <p:nvPr/>
        </p:nvCxnSpPr>
        <p:spPr>
          <a:xfrm>
            <a:off x="4903339" y="1895400"/>
            <a:ext cx="11100" cy="1220400"/>
          </a:xfrm>
          <a:prstGeom prst="straightConnector1">
            <a:avLst/>
          </a:prstGeom>
          <a:noFill/>
          <a:ln w="38100">
            <a:solidFill>
              <a:srgbClr val="00B050"/>
            </a:solidFill>
            <a:headEnd type="none" w="med" len="med"/>
            <a:tailEnd type="arrow" w="med" len="med"/>
          </a:ln>
        </p:spPr>
      </p:cxnSp>
      <p:sp>
        <p:nvSpPr>
          <p:cNvPr id="267" name="Google Shape;267;p17">
            <a:extLst>
              <a:ext uri="{FF2B5EF4-FFF2-40B4-BE49-F238E27FC236}">
                <a16:creationId xmlns:a16="http://schemas.microsoft.com/office/drawing/2014/main" id="{CC3BA531-F917-B7A1-EAEC-5EC5E5405F7B}"/>
              </a:ext>
            </a:extLst>
          </p:cNvPr>
          <p:cNvSpPr txBox="1"/>
          <p:nvPr/>
        </p:nvSpPr>
        <p:spPr>
          <a:xfrm>
            <a:off x="3636199" y="2175550"/>
            <a:ext cx="999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1" dirty="0">
                <a:solidFill>
                  <a:srgbClr val="1A1F2E"/>
                </a:solidFill>
              </a:rPr>
              <a:t>Attestation</a:t>
            </a:r>
            <a:endParaRPr sz="1100" b="1" i="1" dirty="0">
              <a:solidFill>
                <a:srgbClr val="1A1F2E"/>
              </a:solidFill>
            </a:endParaRPr>
          </a:p>
        </p:txBody>
      </p:sp>
      <p:sp>
        <p:nvSpPr>
          <p:cNvPr id="268" name="Google Shape;268;p17">
            <a:extLst>
              <a:ext uri="{FF2B5EF4-FFF2-40B4-BE49-F238E27FC236}">
                <a16:creationId xmlns:a16="http://schemas.microsoft.com/office/drawing/2014/main" id="{D63424A3-14B3-2C52-5F19-8744EA2247E7}"/>
              </a:ext>
            </a:extLst>
          </p:cNvPr>
          <p:cNvSpPr txBox="1"/>
          <p:nvPr/>
        </p:nvSpPr>
        <p:spPr>
          <a:xfrm>
            <a:off x="4933626" y="2098600"/>
            <a:ext cx="1101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 dirty="0">
                <a:solidFill>
                  <a:srgbClr val="1A1F2E"/>
                </a:solidFill>
              </a:rPr>
              <a:t>Secure Data / Key Release</a:t>
            </a:r>
            <a:endParaRPr sz="1000" i="1" dirty="0">
              <a:solidFill>
                <a:srgbClr val="1A1F2E"/>
              </a:solidFill>
            </a:endParaRPr>
          </a:p>
        </p:txBody>
      </p:sp>
      <p:sp>
        <p:nvSpPr>
          <p:cNvPr id="269" name="Google Shape;269;p17">
            <a:extLst>
              <a:ext uri="{FF2B5EF4-FFF2-40B4-BE49-F238E27FC236}">
                <a16:creationId xmlns:a16="http://schemas.microsoft.com/office/drawing/2014/main" id="{FFE40A3E-301F-C166-0BBF-BF2EBDE7482C}"/>
              </a:ext>
            </a:extLst>
          </p:cNvPr>
          <p:cNvSpPr txBox="1"/>
          <p:nvPr/>
        </p:nvSpPr>
        <p:spPr>
          <a:xfrm>
            <a:off x="3582139" y="4336225"/>
            <a:ext cx="2227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A1F2E"/>
                </a:solidFill>
              </a:rPr>
              <a:t>Verify security state before granting access</a:t>
            </a:r>
            <a:endParaRPr dirty="0">
              <a:solidFill>
                <a:srgbClr val="1A1F2E"/>
              </a:solidFill>
            </a:endParaRPr>
          </a:p>
        </p:txBody>
      </p:sp>
      <p:pic>
        <p:nvPicPr>
          <p:cNvPr id="270" name="Google Shape;270;p17">
            <a:extLst>
              <a:ext uri="{FF2B5EF4-FFF2-40B4-BE49-F238E27FC236}">
                <a16:creationId xmlns:a16="http://schemas.microsoft.com/office/drawing/2014/main" id="{73C07775-71A0-DC6A-071A-6BA08770B96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9909" y="3119703"/>
            <a:ext cx="1186925" cy="118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7">
            <a:extLst>
              <a:ext uri="{FF2B5EF4-FFF2-40B4-BE49-F238E27FC236}">
                <a16:creationId xmlns:a16="http://schemas.microsoft.com/office/drawing/2014/main" id="{D7EE3EDC-81DA-8FFF-52D8-79750A405D9D}"/>
              </a:ext>
            </a:extLst>
          </p:cNvPr>
          <p:cNvSpPr txBox="1"/>
          <p:nvPr/>
        </p:nvSpPr>
        <p:spPr>
          <a:xfrm>
            <a:off x="256550" y="417286"/>
            <a:ext cx="2770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A1F2E"/>
                </a:solidFill>
              </a:rPr>
              <a:t>1: Server Integration</a:t>
            </a:r>
            <a:endParaRPr sz="1300" b="1">
              <a:solidFill>
                <a:srgbClr val="1A1F2E"/>
              </a:solidFill>
            </a:endParaRPr>
          </a:p>
        </p:txBody>
      </p:sp>
      <p:sp>
        <p:nvSpPr>
          <p:cNvPr id="272" name="Google Shape;272;p17">
            <a:extLst>
              <a:ext uri="{FF2B5EF4-FFF2-40B4-BE49-F238E27FC236}">
                <a16:creationId xmlns:a16="http://schemas.microsoft.com/office/drawing/2014/main" id="{92CE5E74-DF65-CD8D-FABB-86131E494070}"/>
              </a:ext>
            </a:extLst>
          </p:cNvPr>
          <p:cNvSpPr txBox="1"/>
          <p:nvPr/>
        </p:nvSpPr>
        <p:spPr>
          <a:xfrm>
            <a:off x="3312250" y="417286"/>
            <a:ext cx="2770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A1F2E"/>
                </a:solidFill>
              </a:rPr>
              <a:t>2: Infrastructure Integration</a:t>
            </a:r>
            <a:endParaRPr sz="1300" b="1">
              <a:solidFill>
                <a:srgbClr val="1A1F2E"/>
              </a:solidFill>
            </a:endParaRPr>
          </a:p>
        </p:txBody>
      </p:sp>
      <p:pic>
        <p:nvPicPr>
          <p:cNvPr id="273" name="Google Shape;273;p17">
            <a:extLst>
              <a:ext uri="{FF2B5EF4-FFF2-40B4-BE49-F238E27FC236}">
                <a16:creationId xmlns:a16="http://schemas.microsoft.com/office/drawing/2014/main" id="{A2C8876E-8C9C-BAAF-BB00-497432F3098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12309" y="3119703"/>
            <a:ext cx="1186925" cy="118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7" descr="Create a simpler server.">
            <a:extLst>
              <a:ext uri="{FF2B5EF4-FFF2-40B4-BE49-F238E27FC236}">
                <a16:creationId xmlns:a16="http://schemas.microsoft.com/office/drawing/2014/main" id="{3E3BA9CA-400F-B31A-A5B0-A7E76F608D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905" r="22513"/>
          <a:stretch/>
        </p:blipFill>
        <p:spPr>
          <a:xfrm>
            <a:off x="6376538" y="3044154"/>
            <a:ext cx="779775" cy="1331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7" descr="Make the cylinder 3 levels instead of 2.">
            <a:extLst>
              <a:ext uri="{FF2B5EF4-FFF2-40B4-BE49-F238E27FC236}">
                <a16:creationId xmlns:a16="http://schemas.microsoft.com/office/drawing/2014/main" id="{AB3FDF75-FCDC-8BD2-B7CB-88BF64CED6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077" t="13314" r="21791" b="12967"/>
          <a:stretch/>
        </p:blipFill>
        <p:spPr>
          <a:xfrm>
            <a:off x="7348301" y="895694"/>
            <a:ext cx="779775" cy="10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7" descr="Create a simpler server.">
            <a:extLst>
              <a:ext uri="{FF2B5EF4-FFF2-40B4-BE49-F238E27FC236}">
                <a16:creationId xmlns:a16="http://schemas.microsoft.com/office/drawing/2014/main" id="{C64D4AC3-97F5-9011-A1F7-16CC240F36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905" r="22513"/>
          <a:stretch/>
        </p:blipFill>
        <p:spPr>
          <a:xfrm>
            <a:off x="7252375" y="3044154"/>
            <a:ext cx="779775" cy="1331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7" descr="Create a simpler server.">
            <a:extLst>
              <a:ext uri="{FF2B5EF4-FFF2-40B4-BE49-F238E27FC236}">
                <a16:creationId xmlns:a16="http://schemas.microsoft.com/office/drawing/2014/main" id="{0288A757-F8F8-C2DC-3594-D17EBDC1CE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905" r="22513"/>
          <a:stretch/>
        </p:blipFill>
        <p:spPr>
          <a:xfrm>
            <a:off x="8128213" y="3044154"/>
            <a:ext cx="779775" cy="13311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17">
            <a:extLst>
              <a:ext uri="{FF2B5EF4-FFF2-40B4-BE49-F238E27FC236}">
                <a16:creationId xmlns:a16="http://schemas.microsoft.com/office/drawing/2014/main" id="{EA9CA539-ED27-F619-13E7-0EF019BB28AA}"/>
              </a:ext>
            </a:extLst>
          </p:cNvPr>
          <p:cNvCxnSpPr/>
          <p:nvPr/>
        </p:nvCxnSpPr>
        <p:spPr>
          <a:xfrm rot="10800000">
            <a:off x="7599125" y="1895900"/>
            <a:ext cx="705900" cy="1241400"/>
          </a:xfrm>
          <a:prstGeom prst="straightConnector1">
            <a:avLst/>
          </a:prstGeom>
          <a:noFill/>
          <a:ln w="38100">
            <a:solidFill>
              <a:srgbClr val="7030A0"/>
            </a:solidFill>
            <a:headEnd type="none" w="med" len="med"/>
            <a:tailEnd type="arrow" w="med" len="med"/>
          </a:ln>
        </p:spPr>
      </p:cxnSp>
      <p:cxnSp>
        <p:nvCxnSpPr>
          <p:cNvPr id="279" name="Google Shape;279;p17">
            <a:extLst>
              <a:ext uri="{FF2B5EF4-FFF2-40B4-BE49-F238E27FC236}">
                <a16:creationId xmlns:a16="http://schemas.microsoft.com/office/drawing/2014/main" id="{0FF36626-DFBB-22CA-AFFE-632851E497DC}"/>
              </a:ext>
            </a:extLst>
          </p:cNvPr>
          <p:cNvCxnSpPr>
            <a:cxnSpLocks/>
          </p:cNvCxnSpPr>
          <p:nvPr/>
        </p:nvCxnSpPr>
        <p:spPr>
          <a:xfrm>
            <a:off x="7809992" y="1895728"/>
            <a:ext cx="678300" cy="1220100"/>
          </a:xfrm>
          <a:prstGeom prst="straightConnector1">
            <a:avLst/>
          </a:prstGeom>
          <a:noFill/>
          <a:ln w="38100">
            <a:solidFill>
              <a:srgbClr val="7030A0"/>
            </a:solidFill>
            <a:headEnd type="none" w="med" len="med"/>
            <a:tailEnd type="arrow" w="med" len="med"/>
          </a:ln>
        </p:spPr>
      </p:cxnSp>
      <p:sp>
        <p:nvSpPr>
          <p:cNvPr id="281" name="Google Shape;281;p17">
            <a:extLst>
              <a:ext uri="{FF2B5EF4-FFF2-40B4-BE49-F238E27FC236}">
                <a16:creationId xmlns:a16="http://schemas.microsoft.com/office/drawing/2014/main" id="{B305DF8F-2DEE-DFC8-A947-53E38D64B850}"/>
              </a:ext>
            </a:extLst>
          </p:cNvPr>
          <p:cNvSpPr txBox="1"/>
          <p:nvPr/>
        </p:nvSpPr>
        <p:spPr>
          <a:xfrm>
            <a:off x="6826313" y="2258488"/>
            <a:ext cx="1098325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1100" b="1" i="1">
                <a:solidFill>
                  <a:srgbClr val="1A1F2E"/>
                </a:solidFill>
              </a:defRPr>
            </a:lvl1pPr>
          </a:lstStyle>
          <a:p>
            <a:r>
              <a:rPr lang="en" dirty="0"/>
              <a:t>Workload</a:t>
            </a:r>
          </a:p>
          <a:p>
            <a:r>
              <a:rPr lang="en" dirty="0"/>
              <a:t>Measurement</a:t>
            </a:r>
            <a:endParaRPr dirty="0"/>
          </a:p>
        </p:txBody>
      </p:sp>
      <p:sp>
        <p:nvSpPr>
          <p:cNvPr id="282" name="Google Shape;282;p17">
            <a:extLst>
              <a:ext uri="{FF2B5EF4-FFF2-40B4-BE49-F238E27FC236}">
                <a16:creationId xmlns:a16="http://schemas.microsoft.com/office/drawing/2014/main" id="{ED90EEF2-10C9-086B-077C-C74DA53A8F50}"/>
              </a:ext>
            </a:extLst>
          </p:cNvPr>
          <p:cNvSpPr txBox="1"/>
          <p:nvPr/>
        </p:nvSpPr>
        <p:spPr>
          <a:xfrm>
            <a:off x="6264975" y="4336675"/>
            <a:ext cx="275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F2E"/>
                </a:solidFill>
              </a:rPr>
              <a:t>Verify cryptographic workload identity + security </a:t>
            </a:r>
            <a:endParaRPr>
              <a:solidFill>
                <a:srgbClr val="1A1F2E"/>
              </a:solidFill>
            </a:endParaRPr>
          </a:p>
        </p:txBody>
      </p:sp>
      <p:sp>
        <p:nvSpPr>
          <p:cNvPr id="283" name="Google Shape;283;p17">
            <a:extLst>
              <a:ext uri="{FF2B5EF4-FFF2-40B4-BE49-F238E27FC236}">
                <a16:creationId xmlns:a16="http://schemas.microsoft.com/office/drawing/2014/main" id="{81AC7403-D37F-B35C-23DE-8CFFE7DBFDA3}"/>
              </a:ext>
            </a:extLst>
          </p:cNvPr>
          <p:cNvSpPr txBox="1"/>
          <p:nvPr/>
        </p:nvSpPr>
        <p:spPr>
          <a:xfrm>
            <a:off x="6248750" y="417724"/>
            <a:ext cx="2770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A1F2E"/>
                </a:solidFill>
              </a:rPr>
              <a:t>3: Workload Integration</a:t>
            </a:r>
            <a:endParaRPr sz="1300" b="1">
              <a:solidFill>
                <a:srgbClr val="1A1F2E"/>
              </a:solidFill>
            </a:endParaRPr>
          </a:p>
        </p:txBody>
      </p:sp>
      <p:pic>
        <p:nvPicPr>
          <p:cNvPr id="280" name="Google Shape;280;p17">
            <a:extLst>
              <a:ext uri="{FF2B5EF4-FFF2-40B4-BE49-F238E27FC236}">
                <a16:creationId xmlns:a16="http://schemas.microsoft.com/office/drawing/2014/main" id="{35EFC0DD-058F-D2B4-24D9-D59A682DD75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4646" y="3115828"/>
            <a:ext cx="1186925" cy="118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7">
            <a:extLst>
              <a:ext uri="{FF2B5EF4-FFF2-40B4-BE49-F238E27FC236}">
                <a16:creationId xmlns:a16="http://schemas.microsoft.com/office/drawing/2014/main" id="{8D2E178B-0F45-5022-2BA4-F9499FC5974E}"/>
              </a:ext>
            </a:extLst>
          </p:cNvPr>
          <p:cNvSpPr/>
          <p:nvPr/>
        </p:nvSpPr>
        <p:spPr>
          <a:xfrm>
            <a:off x="8376221" y="3497965"/>
            <a:ext cx="328200" cy="384900"/>
          </a:xfrm>
          <a:prstGeom prst="cube">
            <a:avLst>
              <a:gd name="adj" fmla="val 25000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7">
            <a:extLst>
              <a:ext uri="{FF2B5EF4-FFF2-40B4-BE49-F238E27FC236}">
                <a16:creationId xmlns:a16="http://schemas.microsoft.com/office/drawing/2014/main" id="{09E09490-7BAE-0755-E1DC-D0C63BF07BDF}"/>
              </a:ext>
            </a:extLst>
          </p:cNvPr>
          <p:cNvSpPr txBox="1"/>
          <p:nvPr/>
        </p:nvSpPr>
        <p:spPr>
          <a:xfrm>
            <a:off x="8229324" y="1491943"/>
            <a:ext cx="779775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 dirty="0">
                <a:solidFill>
                  <a:srgbClr val="1A1F2E"/>
                </a:solidFill>
              </a:rPr>
              <a:t>Workload </a:t>
            </a:r>
            <a:endParaRPr sz="1000" i="1" dirty="0">
              <a:solidFill>
                <a:srgbClr val="1A1F2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 dirty="0">
                <a:solidFill>
                  <a:srgbClr val="1A1F2E"/>
                </a:solidFill>
              </a:rPr>
              <a:t>Key</a:t>
            </a:r>
            <a:endParaRPr sz="1000" i="1" dirty="0">
              <a:solidFill>
                <a:srgbClr val="1A1F2E"/>
              </a:solidFill>
            </a:endParaRPr>
          </a:p>
        </p:txBody>
      </p:sp>
      <p:pic>
        <p:nvPicPr>
          <p:cNvPr id="286" name="Google Shape;286;p17">
            <a:extLst>
              <a:ext uri="{FF2B5EF4-FFF2-40B4-BE49-F238E27FC236}">
                <a16:creationId xmlns:a16="http://schemas.microsoft.com/office/drawing/2014/main" id="{144D4489-7B28-64D0-275A-4BAAA6DBDDE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95198" y="1105347"/>
            <a:ext cx="667034" cy="63215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7">
            <a:extLst>
              <a:ext uri="{FF2B5EF4-FFF2-40B4-BE49-F238E27FC236}">
                <a16:creationId xmlns:a16="http://schemas.microsoft.com/office/drawing/2014/main" id="{A80523F2-274D-95D6-61A4-CAF93CF9EA0C}"/>
              </a:ext>
            </a:extLst>
          </p:cNvPr>
          <p:cNvSpPr/>
          <p:nvPr/>
        </p:nvSpPr>
        <p:spPr>
          <a:xfrm>
            <a:off x="1384350" y="2882450"/>
            <a:ext cx="677325" cy="414950"/>
          </a:xfrm>
          <a:custGeom>
            <a:avLst/>
            <a:gdLst/>
            <a:ahLst/>
            <a:cxnLst/>
            <a:rect l="l" t="t" r="r" b="b"/>
            <a:pathLst>
              <a:path w="27093" h="16598" extrusionOk="0">
                <a:moveTo>
                  <a:pt x="0" y="0"/>
                </a:moveTo>
                <a:cubicBezTo>
                  <a:pt x="1834" y="2752"/>
                  <a:pt x="6491" y="15805"/>
                  <a:pt x="11006" y="16510"/>
                </a:cubicBezTo>
                <a:cubicBezTo>
                  <a:pt x="15522" y="17216"/>
                  <a:pt x="24412" y="6279"/>
                  <a:pt x="27093" y="4233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Google Shape;288;p17">
            <a:extLst>
              <a:ext uri="{FF2B5EF4-FFF2-40B4-BE49-F238E27FC236}">
                <a16:creationId xmlns:a16="http://schemas.microsoft.com/office/drawing/2014/main" id="{C5A37550-FFF1-D993-51DD-AC9FE9B853EA}"/>
              </a:ext>
            </a:extLst>
          </p:cNvPr>
          <p:cNvSpPr txBox="1"/>
          <p:nvPr/>
        </p:nvSpPr>
        <p:spPr>
          <a:xfrm>
            <a:off x="847537" y="2399121"/>
            <a:ext cx="1513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A1F2E"/>
                </a:solidFill>
              </a:rPr>
              <a:t>Memory</a:t>
            </a:r>
            <a:endParaRPr sz="1100" b="1" dirty="0">
              <a:solidFill>
                <a:srgbClr val="1A1F2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A1F2E"/>
                </a:solidFill>
              </a:rPr>
              <a:t>Attacks</a:t>
            </a:r>
            <a:endParaRPr sz="1100" b="1" dirty="0">
              <a:solidFill>
                <a:srgbClr val="1A1F2E"/>
              </a:solidFill>
            </a:endParaRPr>
          </a:p>
        </p:txBody>
      </p:sp>
      <p:sp>
        <p:nvSpPr>
          <p:cNvPr id="289" name="Google Shape;289;p17">
            <a:extLst>
              <a:ext uri="{FF2B5EF4-FFF2-40B4-BE49-F238E27FC236}">
                <a16:creationId xmlns:a16="http://schemas.microsoft.com/office/drawing/2014/main" id="{7073820F-7903-CE06-359D-43FAD7928DE1}"/>
              </a:ext>
            </a:extLst>
          </p:cNvPr>
          <p:cNvSpPr txBox="1"/>
          <p:nvPr/>
        </p:nvSpPr>
        <p:spPr>
          <a:xfrm>
            <a:off x="3461593" y="1239206"/>
            <a:ext cx="1513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A1F2E"/>
                </a:solidFill>
              </a:rPr>
              <a:t>Policy</a:t>
            </a:r>
            <a:br>
              <a:rPr lang="en" sz="1100">
                <a:solidFill>
                  <a:srgbClr val="1A1F2E"/>
                </a:solidFill>
              </a:rPr>
            </a:br>
            <a:r>
              <a:rPr lang="en" sz="1100">
                <a:solidFill>
                  <a:srgbClr val="1A1F2E"/>
                </a:solidFill>
              </a:rPr>
              <a:t>Enforcement</a:t>
            </a:r>
            <a:endParaRPr sz="1100">
              <a:solidFill>
                <a:srgbClr val="1A1F2E"/>
              </a:solidFill>
            </a:endParaRPr>
          </a:p>
        </p:txBody>
      </p:sp>
      <p:cxnSp>
        <p:nvCxnSpPr>
          <p:cNvPr id="290" name="Google Shape;290;p17">
            <a:extLst>
              <a:ext uri="{FF2B5EF4-FFF2-40B4-BE49-F238E27FC236}">
                <a16:creationId xmlns:a16="http://schemas.microsoft.com/office/drawing/2014/main" id="{7E2B6FAF-42AD-E44F-A0C3-7CDE2C375D6E}"/>
              </a:ext>
            </a:extLst>
          </p:cNvPr>
          <p:cNvCxnSpPr/>
          <p:nvPr/>
        </p:nvCxnSpPr>
        <p:spPr>
          <a:xfrm flipH="1">
            <a:off x="687800" y="2882450"/>
            <a:ext cx="328200" cy="561000"/>
          </a:xfrm>
          <a:prstGeom prst="straightConnector1">
            <a:avLst/>
          </a:pr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</p:cxnSp>
      <p:pic>
        <p:nvPicPr>
          <p:cNvPr id="294" name="Google Shape;294;p17" descr="Simplify by removing the items from the scales">
            <a:extLst>
              <a:ext uri="{FF2B5EF4-FFF2-40B4-BE49-F238E27FC236}">
                <a16:creationId xmlns:a16="http://schemas.microsoft.com/office/drawing/2014/main" id="{6B93469F-C756-B310-4C95-D0D51C0540ED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94508" y="736500"/>
            <a:ext cx="897900" cy="8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7" descr="Simplify by removing the items from the scales">
            <a:extLst>
              <a:ext uri="{FF2B5EF4-FFF2-40B4-BE49-F238E27FC236}">
                <a16:creationId xmlns:a16="http://schemas.microsoft.com/office/drawing/2014/main" id="{1847BDB5-7CF8-748B-2268-68AE07BFF4BE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23108" y="736500"/>
            <a:ext cx="897900" cy="8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Copied Picture 45">
            <a:extLst>
              <a:ext uri="{FF2B5EF4-FFF2-40B4-BE49-F238E27FC236}">
                <a16:creationId xmlns:a16="http://schemas.microsoft.com/office/drawing/2014/main" id="{33955D14-4543-B95D-AE16-D756DC7B1B26}"/>
              </a:ext>
            </a:extLst>
          </p:cNvPr>
          <p:cNvPicPr preferRelativeResize="0"/>
          <p:nvPr/>
        </p:nvPicPr>
        <p:blipFill rotWithShape="1">
          <a:blip r:embed="rId6">
            <a:alphaModFix/>
            <a:duotone>
              <a:srgbClr val="0F3D2A"/>
              <a:srgbClr val="6FBF8F"/>
            </a:duotone>
          </a:blip>
          <a:srcRect/>
          <a:stretch/>
        </p:blipFill>
        <p:spPr>
          <a:xfrm>
            <a:off x="5027376" y="1077103"/>
            <a:ext cx="660400" cy="6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create a white 3d lock icon in perspective ">
            <a:extLst>
              <a:ext uri="{FF2B5EF4-FFF2-40B4-BE49-F238E27FC236}">
                <a16:creationId xmlns:a16="http://schemas.microsoft.com/office/drawing/2014/main" id="{889BBAD1-A3F9-7CDE-3EE2-0AAC65E06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76221" y="3600952"/>
            <a:ext cx="255366" cy="25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830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59C3A-1D43-7EB0-46B9-3C82AEC21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3111F63-EBED-36FD-2077-82BC07760F73}"/>
              </a:ext>
            </a:extLst>
          </p:cNvPr>
          <p:cNvSpPr/>
          <p:nvPr/>
        </p:nvSpPr>
        <p:spPr>
          <a:xfrm>
            <a:off x="5588000" y="889000"/>
            <a:ext cx="3302000" cy="243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4E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5042A3-FA55-BA2C-2897-5846E56BDFB6}"/>
              </a:ext>
            </a:extLst>
          </p:cNvPr>
          <p:cNvSpPr/>
          <p:nvPr/>
        </p:nvSpPr>
        <p:spPr>
          <a:xfrm>
            <a:off x="1016000" y="2159000"/>
            <a:ext cx="3048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4186267-B88A-B854-7F2D-61ECB1DFCF0A}"/>
              </a:ext>
            </a:extLst>
          </p:cNvPr>
          <p:cNvSpPr/>
          <p:nvPr/>
        </p:nvSpPr>
        <p:spPr>
          <a:xfrm>
            <a:off x="1016000" y="889000"/>
            <a:ext cx="3048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" name="Copied Picture 2" descr="Create a simpler server.">
            <a:extLst>
              <a:ext uri="{FF2B5EF4-FFF2-40B4-BE49-F238E27FC236}">
                <a16:creationId xmlns:a16="http://schemas.microsoft.com/office/drawing/2014/main" id="{851F3521-B913-CFCA-A86E-65EC8DC0294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905" r="22513"/>
          <a:stretch/>
        </p:blipFill>
        <p:spPr>
          <a:xfrm>
            <a:off x="1206500" y="1016000"/>
            <a:ext cx="5080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Copied Picture 3" descr="Create a simpler server.">
            <a:extLst>
              <a:ext uri="{FF2B5EF4-FFF2-40B4-BE49-F238E27FC236}">
                <a16:creationId xmlns:a16="http://schemas.microsoft.com/office/drawing/2014/main" id="{1B379C10-56F8-65CB-EFA1-53CA483F966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905" r="22513"/>
          <a:stretch/>
        </p:blipFill>
        <p:spPr>
          <a:xfrm>
            <a:off x="1206500" y="2286000"/>
            <a:ext cx="5080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Copied Picture 4" descr="Make the cylinder 3 levels instead of 2.">
            <a:extLst>
              <a:ext uri="{FF2B5EF4-FFF2-40B4-BE49-F238E27FC236}">
                <a16:creationId xmlns:a16="http://schemas.microsoft.com/office/drawing/2014/main" id="{984E9FC1-C762-2148-BE79-A27D281080A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077" t="13314" r="21791" b="12967"/>
          <a:stretch/>
        </p:blipFill>
        <p:spPr>
          <a:xfrm>
            <a:off x="6832600" y="1379706"/>
            <a:ext cx="812800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E04C51-FB40-3825-60A9-00AB1E37BC2D}"/>
              </a:ext>
            </a:extLst>
          </p:cNvPr>
          <p:cNvSpPr txBox="1"/>
          <p:nvPr/>
        </p:nvSpPr>
        <p:spPr>
          <a:xfrm>
            <a:off x="254000" y="127000"/>
            <a:ext cx="863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 dirty="0">
                <a:solidFill>
                  <a:srgbClr val="1A1F2E"/>
                </a:solidFill>
              </a:rPr>
              <a:t>Level 1: Server Integration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2D297-624C-AF43-4E27-07A055162986}"/>
              </a:ext>
            </a:extLst>
          </p:cNvPr>
          <p:cNvSpPr txBox="1"/>
          <p:nvPr/>
        </p:nvSpPr>
        <p:spPr>
          <a:xfrm>
            <a:off x="254000" y="533400"/>
            <a:ext cx="863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6B7280"/>
                </a:solidFill>
              </a:rPr>
              <a:t>Hardware-isolated VM with encrypted 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37B217-C1F4-1615-24DA-EB7EAE4EFEEA}"/>
              </a:ext>
            </a:extLst>
          </p:cNvPr>
          <p:cNvSpPr txBox="1"/>
          <p:nvPr/>
        </p:nvSpPr>
        <p:spPr>
          <a:xfrm>
            <a:off x="2348396" y="1016000"/>
            <a:ext cx="1715604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 dirty="0">
                <a:solidFill>
                  <a:srgbClr val="2E7D5C"/>
                </a:solidFill>
              </a:rPr>
              <a:t>Confidential VM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B79067-BF1F-F204-8855-6A92BA52DD0F}"/>
              </a:ext>
            </a:extLst>
          </p:cNvPr>
          <p:cNvSpPr txBox="1"/>
          <p:nvPr/>
        </p:nvSpPr>
        <p:spPr>
          <a:xfrm>
            <a:off x="2361096" y="2286000"/>
            <a:ext cx="1702904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 dirty="0">
                <a:solidFill>
                  <a:srgbClr val="B91C1C"/>
                </a:solidFill>
              </a:rPr>
              <a:t>Standard VM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B2781D-41AB-65B1-B491-51754F210401}"/>
              </a:ext>
            </a:extLst>
          </p:cNvPr>
          <p:cNvSpPr txBox="1"/>
          <p:nvPr/>
        </p:nvSpPr>
        <p:spPr>
          <a:xfrm>
            <a:off x="5715000" y="10160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B4EA0"/>
                </a:solidFill>
              </a:rPr>
              <a:t>Relying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355894-B822-57E2-ABC9-8B274ED7D1D4}"/>
              </a:ext>
            </a:extLst>
          </p:cNvPr>
          <p:cNvSpPr txBox="1"/>
          <p:nvPr/>
        </p:nvSpPr>
        <p:spPr>
          <a:xfrm>
            <a:off x="2341911" y="1270000"/>
            <a:ext cx="1715604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dirty="0">
                <a:solidFill>
                  <a:srgbClr val="1A1F2E"/>
                </a:solidFill>
              </a:rPr>
              <a:t>Hardware Protected: memory, accelerators, interconnects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E0383D-7794-30E1-E906-80DA45BD804F}"/>
              </a:ext>
            </a:extLst>
          </p:cNvPr>
          <p:cNvSpPr txBox="1"/>
          <p:nvPr/>
        </p:nvSpPr>
        <p:spPr>
          <a:xfrm>
            <a:off x="2348396" y="2540000"/>
            <a:ext cx="1715604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dirty="0">
                <a:solidFill>
                  <a:srgbClr val="1A1F2E"/>
                </a:solidFill>
              </a:rPr>
              <a:t>Plaintext memory, open accelerators, interconnects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C479D7-8C34-AA15-AF1D-EDA9E1A9386D}"/>
              </a:ext>
            </a:extLst>
          </p:cNvPr>
          <p:cNvSpPr txBox="1"/>
          <p:nvPr/>
        </p:nvSpPr>
        <p:spPr>
          <a:xfrm>
            <a:off x="6341894" y="2444750"/>
            <a:ext cx="203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 dirty="0">
                <a:solidFill>
                  <a:srgbClr val="1A1F2E"/>
                </a:solidFill>
              </a:rPr>
              <a:t>Incapable of discriminating server security state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7B3A015-9F8D-2850-16AE-EFD535E51BEF}"/>
              </a:ext>
            </a:extLst>
          </p:cNvPr>
          <p:cNvSpPr/>
          <p:nvPr/>
        </p:nvSpPr>
        <p:spPr>
          <a:xfrm>
            <a:off x="254000" y="3492500"/>
            <a:ext cx="4318000" cy="863600"/>
          </a:xfrm>
          <a:prstGeom prst="roundRect">
            <a:avLst/>
          </a:prstGeom>
          <a:solidFill>
            <a:srgbClr val="2E7D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364E3A-3C8A-216D-75B5-DD3BA9FC6038}"/>
              </a:ext>
            </a:extLst>
          </p:cNvPr>
          <p:cNvSpPr txBox="1"/>
          <p:nvPr/>
        </p:nvSpPr>
        <p:spPr>
          <a:xfrm>
            <a:off x="355600" y="3568700"/>
            <a:ext cx="4114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FFFFFF"/>
                </a:solidFill>
              </a:rPr>
              <a:t>Benefit: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A083DE-3BAD-7F14-5AAE-70E09E824734}"/>
              </a:ext>
            </a:extLst>
          </p:cNvPr>
          <p:cNvSpPr txBox="1"/>
          <p:nvPr/>
        </p:nvSpPr>
        <p:spPr>
          <a:xfrm>
            <a:off x="355600" y="3822700"/>
            <a:ext cx="4114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Hardware-enforced barrier isolates CVM memory and </a:t>
            </a:r>
            <a:br>
              <a:rPr lang="en-US" sz="1100" dirty="0">
                <a:solidFill>
                  <a:srgbClr val="FFFFFF"/>
                </a:solidFill>
              </a:rPr>
            </a:br>
            <a:r>
              <a:rPr lang="en-US" sz="1100" dirty="0">
                <a:solidFill>
                  <a:srgbClr val="FFFFFF"/>
                </a:solidFill>
              </a:rPr>
              <a:t>CC-capable accelerators from host-based attacks.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879D030-54AD-F33B-2027-D919F5A025DB}"/>
              </a:ext>
            </a:extLst>
          </p:cNvPr>
          <p:cNvSpPr/>
          <p:nvPr/>
        </p:nvSpPr>
        <p:spPr>
          <a:xfrm>
            <a:off x="4699000" y="3492500"/>
            <a:ext cx="4191000" cy="863600"/>
          </a:xfrm>
          <a:prstGeom prst="roundRect">
            <a:avLst/>
          </a:prstGeom>
          <a:solidFill>
            <a:srgbClr val="B4530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AC1235-6794-0C79-18A4-227D29089DD0}"/>
              </a:ext>
            </a:extLst>
          </p:cNvPr>
          <p:cNvSpPr txBox="1"/>
          <p:nvPr/>
        </p:nvSpPr>
        <p:spPr>
          <a:xfrm>
            <a:off x="4800600" y="3568700"/>
            <a:ext cx="3987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FFFFFF"/>
                </a:solidFill>
              </a:rPr>
              <a:t>Limitation: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29ABCD-D8A9-1B66-2F58-6905518ECD9D}"/>
              </a:ext>
            </a:extLst>
          </p:cNvPr>
          <p:cNvSpPr txBox="1"/>
          <p:nvPr/>
        </p:nvSpPr>
        <p:spPr>
          <a:xfrm>
            <a:off x="4800600" y="3822700"/>
            <a:ext cx="39878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No attestation policy check; relying systems treat both vulnerable and Confidential VMs uniformly.</a:t>
            </a:r>
          </a:p>
        </p:txBody>
      </p:sp>
      <p:pic>
        <p:nvPicPr>
          <p:cNvPr id="33" name="Graphic 33">
            <a:extLst>
              <a:ext uri="{FF2B5EF4-FFF2-40B4-BE49-F238E27FC236}">
                <a16:creationId xmlns:a16="http://schemas.microsoft.com/office/drawing/2014/main" id="{27B93E99-FDD5-2E4D-D469-B430FB7626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0400" y="1041400"/>
            <a:ext cx="355600" cy="355600"/>
          </a:xfrm>
          <a:prstGeom prst="rect">
            <a:avLst/>
          </a:prstGeom>
        </p:spPr>
      </p:pic>
      <p:pic>
        <p:nvPicPr>
          <p:cNvPr id="34" name="Graphic 34">
            <a:extLst>
              <a:ext uri="{FF2B5EF4-FFF2-40B4-BE49-F238E27FC236}">
                <a16:creationId xmlns:a16="http://schemas.microsoft.com/office/drawing/2014/main" id="{11CC5436-8C48-B1A1-BB05-9072D70B73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0400" y="2311400"/>
            <a:ext cx="355600" cy="355600"/>
          </a:xfrm>
          <a:prstGeom prst="rect">
            <a:avLst/>
          </a:prstGeom>
        </p:spPr>
      </p:pic>
      <p:sp>
        <p:nvSpPr>
          <p:cNvPr id="7" name="Left Arrow 6">
            <a:extLst>
              <a:ext uri="{FF2B5EF4-FFF2-40B4-BE49-F238E27FC236}">
                <a16:creationId xmlns:a16="http://schemas.microsoft.com/office/drawing/2014/main" id="{B35A1885-98BD-4A9F-B32B-A5009C80DA9D}"/>
              </a:ext>
            </a:extLst>
          </p:cNvPr>
          <p:cNvSpPr/>
          <p:nvPr/>
        </p:nvSpPr>
        <p:spPr>
          <a:xfrm>
            <a:off x="4064000" y="1638300"/>
            <a:ext cx="1524000" cy="203200"/>
          </a:xfrm>
          <a:prstGeom prst="leftArrow">
            <a:avLst/>
          </a:prstGeom>
          <a:solidFill>
            <a:schemeClr val="accent2">
              <a:lumMod val="25000"/>
              <a:lumOff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D2AA59-3E83-2C30-2B5F-8CF53010AFEF}"/>
              </a:ext>
            </a:extLst>
          </p:cNvPr>
          <p:cNvSpPr txBox="1"/>
          <p:nvPr/>
        </p:nvSpPr>
        <p:spPr>
          <a:xfrm>
            <a:off x="3994826" y="1982998"/>
            <a:ext cx="1593174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1A1F2E"/>
                </a:solidFill>
              </a:rPr>
              <a:t>Sensitive Data / Keys</a:t>
            </a:r>
          </a:p>
        </p:txBody>
      </p:sp>
      <p:sp>
        <p:nvSpPr>
          <p:cNvPr id="16" name="Left Arrow 15">
            <a:extLst>
              <a:ext uri="{FF2B5EF4-FFF2-40B4-BE49-F238E27FC236}">
                <a16:creationId xmlns:a16="http://schemas.microsoft.com/office/drawing/2014/main" id="{058EC66E-5ED7-9BBE-BAD7-A0BD938D2437}"/>
              </a:ext>
            </a:extLst>
          </p:cNvPr>
          <p:cNvSpPr/>
          <p:nvPr/>
        </p:nvSpPr>
        <p:spPr>
          <a:xfrm>
            <a:off x="4064000" y="2409135"/>
            <a:ext cx="1524000" cy="203200"/>
          </a:xfrm>
          <a:prstGeom prst="leftArrow">
            <a:avLst/>
          </a:prstGeom>
          <a:solidFill>
            <a:schemeClr val="accent2">
              <a:lumMod val="25000"/>
              <a:lumOff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8" name="Copied Picture 45">
            <a:extLst>
              <a:ext uri="{FF2B5EF4-FFF2-40B4-BE49-F238E27FC236}">
                <a16:creationId xmlns:a16="http://schemas.microsoft.com/office/drawing/2014/main" id="{84207741-7F98-02AE-39CA-9697D93A90D3}"/>
              </a:ext>
            </a:extLst>
          </p:cNvPr>
          <p:cNvPicPr preferRelativeResize="0"/>
          <p:nvPr/>
        </p:nvPicPr>
        <p:blipFill rotWithShape="1">
          <a:blip r:embed="rId6">
            <a:alphaModFix/>
            <a:duotone>
              <a:srgbClr val="3A3A3A"/>
              <a:srgbClr val="C8C8C8"/>
            </a:duotone>
          </a:blip>
          <a:srcRect/>
          <a:stretch/>
        </p:blipFill>
        <p:spPr>
          <a:xfrm>
            <a:off x="5525604" y="2171700"/>
            <a:ext cx="660400" cy="6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Copied Picture 45">
            <a:extLst>
              <a:ext uri="{FF2B5EF4-FFF2-40B4-BE49-F238E27FC236}">
                <a16:creationId xmlns:a16="http://schemas.microsoft.com/office/drawing/2014/main" id="{EEC05DEE-E7D0-45A9-0DBF-2C4E4837A844}"/>
              </a:ext>
            </a:extLst>
          </p:cNvPr>
          <p:cNvPicPr preferRelativeResize="0"/>
          <p:nvPr/>
        </p:nvPicPr>
        <p:blipFill rotWithShape="1">
          <a:blip r:embed="rId6">
            <a:alphaModFix/>
            <a:duotone>
              <a:srgbClr val="3A3A3A"/>
              <a:srgbClr val="C8C8C8"/>
            </a:duotone>
          </a:blip>
          <a:srcRect/>
          <a:stretch/>
        </p:blipFill>
        <p:spPr>
          <a:xfrm>
            <a:off x="5549900" y="1460500"/>
            <a:ext cx="660400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4032BBE-0A04-A046-95FC-01E5F2BBF1E3}"/>
              </a:ext>
            </a:extLst>
          </p:cNvPr>
          <p:cNvSpPr txBox="1"/>
          <p:nvPr/>
        </p:nvSpPr>
        <p:spPr>
          <a:xfrm>
            <a:off x="393700" y="1719769"/>
            <a:ext cx="88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 b="1" i="1">
                <a:solidFill>
                  <a:srgbClr val="C62828"/>
                </a:solidFill>
              </a:rPr>
              <a:t>Blocked</a:t>
            </a: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4F37EAB3-7595-C542-917E-8CED45991E3E}"/>
              </a:ext>
            </a:extLst>
          </p:cNvPr>
          <p:cNvSpPr/>
          <p:nvPr/>
        </p:nvSpPr>
        <p:spPr>
          <a:xfrm>
            <a:off x="331304" y="2667000"/>
            <a:ext cx="10160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U-Turn Arrow 46">
            <a:extLst>
              <a:ext uri="{FF2B5EF4-FFF2-40B4-BE49-F238E27FC236}">
                <a16:creationId xmlns:a16="http://schemas.microsoft.com/office/drawing/2014/main" id="{CDE23194-5DB2-EB59-52BC-45D76F7FEB2E}"/>
              </a:ext>
            </a:extLst>
          </p:cNvPr>
          <p:cNvSpPr/>
          <p:nvPr/>
        </p:nvSpPr>
        <p:spPr>
          <a:xfrm rot="5400000">
            <a:off x="427083" y="1232452"/>
            <a:ext cx="391538" cy="583096"/>
          </a:xfrm>
          <a:prstGeom prst="uturnArrow">
            <a:avLst>
              <a:gd name="adj1" fmla="val 18375"/>
              <a:gd name="adj2" fmla="val 24172"/>
              <a:gd name="adj3" fmla="val 25000"/>
              <a:gd name="adj4" fmla="val 43750"/>
              <a:gd name="adj5" fmla="val 75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8" name="Graphic 44" descr="Bug: malicious workload">
            <a:extLst>
              <a:ext uri="{FF2B5EF4-FFF2-40B4-BE49-F238E27FC236}">
                <a16:creationId xmlns:a16="http://schemas.microsoft.com/office/drawing/2014/main" id="{20AAB3E0-4A45-06F1-4D51-B19BBAB974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400" y="1088890"/>
            <a:ext cx="228600" cy="228600"/>
          </a:xfrm>
          <a:prstGeom prst="rect">
            <a:avLst/>
          </a:prstGeom>
        </p:spPr>
      </p:pic>
      <p:pic>
        <p:nvPicPr>
          <p:cNvPr id="49" name="Graphic 44" descr="Bug: malicious workload">
            <a:extLst>
              <a:ext uri="{FF2B5EF4-FFF2-40B4-BE49-F238E27FC236}">
                <a16:creationId xmlns:a16="http://schemas.microsoft.com/office/drawing/2014/main" id="{6E6B2118-1AC2-349A-2D03-3AE52E857C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7796" y="243840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7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DEC5B-4BE3-834C-4CE8-A024F0FEB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40711F0-AA42-3662-82AD-C9FCC95DDA1A}"/>
              </a:ext>
            </a:extLst>
          </p:cNvPr>
          <p:cNvSpPr/>
          <p:nvPr/>
        </p:nvSpPr>
        <p:spPr>
          <a:xfrm>
            <a:off x="6858000" y="889000"/>
            <a:ext cx="2032000" cy="25815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4E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6CE3F1D-E810-E7DA-94ED-D69F3837ABCD}"/>
              </a:ext>
            </a:extLst>
          </p:cNvPr>
          <p:cNvSpPr/>
          <p:nvPr/>
        </p:nvSpPr>
        <p:spPr>
          <a:xfrm>
            <a:off x="254000" y="889000"/>
            <a:ext cx="3556000" cy="25815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" name="Copied Picture 2" descr="Create a simpler server.">
            <a:extLst>
              <a:ext uri="{FF2B5EF4-FFF2-40B4-BE49-F238E27FC236}">
                <a16:creationId xmlns:a16="http://schemas.microsoft.com/office/drawing/2014/main" id="{7A817E2E-4651-5DC2-DA7E-4EDACBBE68D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905" r="22513"/>
          <a:stretch/>
        </p:blipFill>
        <p:spPr>
          <a:xfrm>
            <a:off x="494725" y="1651000"/>
            <a:ext cx="889000" cy="13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Copied Picture 4" descr="Simplify by removing the items from the scales">
            <a:extLst>
              <a:ext uri="{FF2B5EF4-FFF2-40B4-BE49-F238E27FC236}">
                <a16:creationId xmlns:a16="http://schemas.microsoft.com/office/drawing/2014/main" id="{00AABB33-353B-F99D-3020-657CF1C055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4932" y="1708474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222FFF-98E6-AD7A-58E0-5B0B9BF14D29}"/>
              </a:ext>
            </a:extLst>
          </p:cNvPr>
          <p:cNvSpPr txBox="1"/>
          <p:nvPr/>
        </p:nvSpPr>
        <p:spPr>
          <a:xfrm>
            <a:off x="254000" y="101600"/>
            <a:ext cx="863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 dirty="0">
                <a:solidFill>
                  <a:srgbClr val="1A1F2E"/>
                </a:solidFill>
              </a:rPr>
              <a:t>Level 2: Infrastructure Integration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CF318-8C5A-3393-6AD1-49F23A915760}"/>
              </a:ext>
            </a:extLst>
          </p:cNvPr>
          <p:cNvSpPr txBox="1"/>
          <p:nvPr/>
        </p:nvSpPr>
        <p:spPr>
          <a:xfrm>
            <a:off x="254000" y="482600"/>
            <a:ext cx="863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6B7280"/>
                </a:solidFill>
              </a:rPr>
              <a:t>Platform attestation required for release of sensitive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C28A07-145B-7A41-7F96-84E4CB174658}"/>
              </a:ext>
            </a:extLst>
          </p:cNvPr>
          <p:cNvSpPr txBox="1"/>
          <p:nvPr/>
        </p:nvSpPr>
        <p:spPr>
          <a:xfrm>
            <a:off x="355600" y="990600"/>
            <a:ext cx="3352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E7D5C"/>
                </a:solidFill>
              </a:rPr>
              <a:t>Confidential VM (CVM)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8A3A5-5926-BACD-FB82-947A6681FB72}"/>
              </a:ext>
            </a:extLst>
          </p:cNvPr>
          <p:cNvSpPr/>
          <p:nvPr/>
        </p:nvSpPr>
        <p:spPr>
          <a:xfrm>
            <a:off x="1510725" y="1397000"/>
            <a:ext cx="20320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B5E5A-0AF9-4FE4-D983-C9007F8727E4}"/>
              </a:ext>
            </a:extLst>
          </p:cNvPr>
          <p:cNvSpPr txBox="1"/>
          <p:nvPr/>
        </p:nvSpPr>
        <p:spPr>
          <a:xfrm>
            <a:off x="1561525" y="1422400"/>
            <a:ext cx="1930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B45309"/>
                </a:solidFill>
              </a:rPr>
              <a:t>Workload  ✕ Unverified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16246A-DCBF-CDC1-B194-FACA99AF7DE2}"/>
              </a:ext>
            </a:extLst>
          </p:cNvPr>
          <p:cNvSpPr/>
          <p:nvPr/>
        </p:nvSpPr>
        <p:spPr>
          <a:xfrm>
            <a:off x="1561525" y="1651000"/>
            <a:ext cx="914400" cy="457200"/>
          </a:xfrm>
          <a:prstGeom prst="rect">
            <a:avLst/>
          </a:prstGeom>
          <a:solidFill>
            <a:srgbClr val="EAF4EF"/>
          </a:solidFill>
          <a:ln w="9525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5ACC0-9482-D9EC-E609-FB7C101FB704}"/>
              </a:ext>
            </a:extLst>
          </p:cNvPr>
          <p:cNvSpPr txBox="1"/>
          <p:nvPr/>
        </p:nvSpPr>
        <p:spPr>
          <a:xfrm>
            <a:off x="1561525" y="1910522"/>
            <a:ext cx="914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00" b="1" dirty="0">
                <a:solidFill>
                  <a:srgbClr val="2E7D5C"/>
                </a:solidFill>
              </a:rPr>
              <a:t>Legitimate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686F56-A530-51E6-9164-3C8944C9DAF4}"/>
              </a:ext>
            </a:extLst>
          </p:cNvPr>
          <p:cNvSpPr/>
          <p:nvPr/>
        </p:nvSpPr>
        <p:spPr>
          <a:xfrm>
            <a:off x="2526725" y="1651000"/>
            <a:ext cx="914400" cy="457200"/>
          </a:xfrm>
          <a:prstGeom prst="rect">
            <a:avLst/>
          </a:prstGeom>
          <a:solidFill>
            <a:srgbClr val="FBEEEE"/>
          </a:solidFill>
          <a:ln w="9525"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69DE40-8CAE-F38A-B3BB-88A94FE31793}"/>
              </a:ext>
            </a:extLst>
          </p:cNvPr>
          <p:cNvSpPr txBox="1"/>
          <p:nvPr/>
        </p:nvSpPr>
        <p:spPr>
          <a:xfrm>
            <a:off x="2526725" y="1910522"/>
            <a:ext cx="914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00" b="1">
                <a:solidFill>
                  <a:srgbClr val="B91C1C"/>
                </a:solidFill>
              </a:rPr>
              <a:t>Malicious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A5D35-E0B9-5255-8980-E466D6149977}"/>
              </a:ext>
            </a:extLst>
          </p:cNvPr>
          <p:cNvSpPr txBox="1"/>
          <p:nvPr/>
        </p:nvSpPr>
        <p:spPr>
          <a:xfrm>
            <a:off x="1510725" y="2120900"/>
            <a:ext cx="2032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6B7280"/>
                </a:solidFill>
              </a:rPr>
              <a:t>Indistinguishable to verifier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C7CB2F-49B0-611D-D527-36CADFBD1541}"/>
              </a:ext>
            </a:extLst>
          </p:cNvPr>
          <p:cNvSpPr/>
          <p:nvPr/>
        </p:nvSpPr>
        <p:spPr>
          <a:xfrm>
            <a:off x="1510725" y="2316481"/>
            <a:ext cx="2057400" cy="45719"/>
          </a:xfrm>
          <a:prstGeom prst="rect">
            <a:avLst/>
          </a:prstGeom>
          <a:solidFill>
            <a:srgbClr val="2E7D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EC956-33FF-9477-4266-4675662ACE58}"/>
              </a:ext>
            </a:extLst>
          </p:cNvPr>
          <p:cNvSpPr txBox="1"/>
          <p:nvPr/>
        </p:nvSpPr>
        <p:spPr>
          <a:xfrm>
            <a:off x="1447225" y="2362200"/>
            <a:ext cx="21209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 dirty="0">
                <a:solidFill>
                  <a:srgbClr val="2E7D5C"/>
                </a:solidFill>
              </a:rPr>
              <a:t>▲  Measurement Boundary  ▲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EE7AF4-3F34-4701-DAE1-31DFE704FD01}"/>
              </a:ext>
            </a:extLst>
          </p:cNvPr>
          <p:cNvSpPr/>
          <p:nvPr/>
        </p:nvSpPr>
        <p:spPr>
          <a:xfrm>
            <a:off x="1510725" y="2565400"/>
            <a:ext cx="2032000" cy="228600"/>
          </a:xfrm>
          <a:prstGeom prst="rect">
            <a:avLst/>
          </a:prstGeom>
          <a:solidFill>
            <a:srgbClr val="EAF4EF"/>
          </a:solidFill>
          <a:ln w="635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9A531C-9690-11DC-9CEC-6000C32EF0F2}"/>
              </a:ext>
            </a:extLst>
          </p:cNvPr>
          <p:cNvSpPr txBox="1"/>
          <p:nvPr/>
        </p:nvSpPr>
        <p:spPr>
          <a:xfrm>
            <a:off x="1510725" y="2578100"/>
            <a:ext cx="2032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dirty="0">
                <a:solidFill>
                  <a:srgbClr val="1A1F2E"/>
                </a:solidFill>
              </a:rPr>
              <a:t>Guest Kernel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FA7421-19D7-A28B-453C-C48B82F24258}"/>
              </a:ext>
            </a:extLst>
          </p:cNvPr>
          <p:cNvSpPr/>
          <p:nvPr/>
        </p:nvSpPr>
        <p:spPr>
          <a:xfrm>
            <a:off x="1510725" y="2819400"/>
            <a:ext cx="2032000" cy="228600"/>
          </a:xfrm>
          <a:prstGeom prst="rect">
            <a:avLst/>
          </a:prstGeom>
          <a:solidFill>
            <a:srgbClr val="C9E5D6"/>
          </a:solidFill>
          <a:ln w="635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478CA7-E6DF-8C3A-4521-910BB9038D58}"/>
              </a:ext>
            </a:extLst>
          </p:cNvPr>
          <p:cNvSpPr txBox="1"/>
          <p:nvPr/>
        </p:nvSpPr>
        <p:spPr>
          <a:xfrm>
            <a:off x="1510725" y="2832100"/>
            <a:ext cx="2032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1A1F2E"/>
                </a:solidFill>
              </a:rPr>
              <a:t>Virtual BIOS / Hypervisor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021A17-9659-8C55-A0C4-6C0ECACFE7DC}"/>
              </a:ext>
            </a:extLst>
          </p:cNvPr>
          <p:cNvSpPr/>
          <p:nvPr/>
        </p:nvSpPr>
        <p:spPr>
          <a:xfrm>
            <a:off x="1510725" y="3073400"/>
            <a:ext cx="2032000" cy="228600"/>
          </a:xfrm>
          <a:prstGeom prst="rect">
            <a:avLst/>
          </a:prstGeom>
          <a:solidFill>
            <a:srgbClr val="2E7D5C"/>
          </a:solidFill>
          <a:ln w="635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912CB8-D4BB-5FBA-2926-1ACB978076E1}"/>
              </a:ext>
            </a:extLst>
          </p:cNvPr>
          <p:cNvSpPr txBox="1"/>
          <p:nvPr/>
        </p:nvSpPr>
        <p:spPr>
          <a:xfrm>
            <a:off x="1510725" y="3086100"/>
            <a:ext cx="2032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</a:rPr>
              <a:t>Hardware Root of Trust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0DA799-6C2E-350D-8552-0B8B0A581F46}"/>
              </a:ext>
            </a:extLst>
          </p:cNvPr>
          <p:cNvSpPr txBox="1"/>
          <p:nvPr/>
        </p:nvSpPr>
        <p:spPr>
          <a:xfrm>
            <a:off x="6959600" y="9906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 dirty="0">
                <a:solidFill>
                  <a:srgbClr val="1B4EA0"/>
                </a:solidFill>
              </a:rPr>
              <a:t>Relying System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D39663-F5A8-6AEE-132B-AA1CB08F9A59}"/>
              </a:ext>
            </a:extLst>
          </p:cNvPr>
          <p:cNvSpPr txBox="1"/>
          <p:nvPr/>
        </p:nvSpPr>
        <p:spPr>
          <a:xfrm>
            <a:off x="6959600" y="2284840"/>
            <a:ext cx="1828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 dirty="0">
                <a:solidFill>
                  <a:srgbClr val="1A1F2E"/>
                </a:solidFill>
              </a:rPr>
              <a:t>Verifier  +  Policy Appraisal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FB75BC-7E69-799E-A065-FD4DA2006CA0}"/>
              </a:ext>
            </a:extLst>
          </p:cNvPr>
          <p:cNvSpPr txBox="1"/>
          <p:nvPr/>
        </p:nvSpPr>
        <p:spPr>
          <a:xfrm>
            <a:off x="6959600" y="2553196"/>
            <a:ext cx="1930400" cy="292101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000" dirty="0">
                <a:solidFill>
                  <a:srgbClr val="1A1F2E"/>
                </a:solidFill>
              </a:rPr>
              <a:t>✓ TEE ✓ Firmware ✓ Kernel</a:t>
            </a:r>
          </a:p>
        </p:txBody>
      </p:sp>
      <p:sp>
        <p:nvSpPr>
          <p:cNvPr id="29" name="Left Arrow 28">
            <a:extLst>
              <a:ext uri="{FF2B5EF4-FFF2-40B4-BE49-F238E27FC236}">
                <a16:creationId xmlns:a16="http://schemas.microsoft.com/office/drawing/2014/main" id="{AA53DE0F-80A6-0062-8BEA-A23698F87FFD}"/>
              </a:ext>
            </a:extLst>
          </p:cNvPr>
          <p:cNvSpPr/>
          <p:nvPr/>
        </p:nvSpPr>
        <p:spPr>
          <a:xfrm flipH="1">
            <a:off x="3873500" y="1117600"/>
            <a:ext cx="2921000" cy="152400"/>
          </a:xfrm>
          <a:prstGeom prst="leftArrow">
            <a:avLst/>
          </a:prstGeom>
          <a:solidFill>
            <a:srgbClr val="6B72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5EC485-CBAC-B645-2932-1D8EF770A453}"/>
              </a:ext>
            </a:extLst>
          </p:cNvPr>
          <p:cNvSpPr txBox="1"/>
          <p:nvPr/>
        </p:nvSpPr>
        <p:spPr>
          <a:xfrm>
            <a:off x="3873500" y="1295400"/>
            <a:ext cx="2921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1A1F2E"/>
                </a:solidFill>
              </a:rPr>
              <a:t>①  Data Request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F6E02DE4-334A-6CB0-6BFC-5EC1ABC73066}"/>
              </a:ext>
            </a:extLst>
          </p:cNvPr>
          <p:cNvSpPr/>
          <p:nvPr/>
        </p:nvSpPr>
        <p:spPr>
          <a:xfrm>
            <a:off x="3873500" y="2095500"/>
            <a:ext cx="2921000" cy="152400"/>
          </a:xfrm>
          <a:prstGeom prst="rightArrow">
            <a:avLst/>
          </a:prstGeom>
          <a:solidFill>
            <a:srgbClr val="2E7D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151274-0E34-1D48-38A1-6C4A5C754913}"/>
              </a:ext>
            </a:extLst>
          </p:cNvPr>
          <p:cNvSpPr txBox="1"/>
          <p:nvPr/>
        </p:nvSpPr>
        <p:spPr>
          <a:xfrm>
            <a:off x="3873500" y="1841500"/>
            <a:ext cx="2921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1A1F2E"/>
                </a:solidFill>
              </a:rPr>
              <a:t>②  Platform Attestation Quote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FA546D-DDDC-EBE9-108F-62133307E633}"/>
              </a:ext>
            </a:extLst>
          </p:cNvPr>
          <p:cNvSpPr txBox="1"/>
          <p:nvPr/>
        </p:nvSpPr>
        <p:spPr>
          <a:xfrm>
            <a:off x="3873500" y="2286000"/>
            <a:ext cx="2921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 dirty="0">
                <a:solidFill>
                  <a:srgbClr val="6B7280"/>
                </a:solidFill>
              </a:rPr>
              <a:t>Firmware · Hypervisor · Guest Kernel</a:t>
            </a:r>
          </a:p>
        </p:txBody>
      </p:sp>
      <p:sp>
        <p:nvSpPr>
          <p:cNvPr id="34" name="Left Arrow 33">
            <a:extLst>
              <a:ext uri="{FF2B5EF4-FFF2-40B4-BE49-F238E27FC236}">
                <a16:creationId xmlns:a16="http://schemas.microsoft.com/office/drawing/2014/main" id="{1A010B29-7254-2D86-64B0-26ED9F8545EA}"/>
              </a:ext>
            </a:extLst>
          </p:cNvPr>
          <p:cNvSpPr/>
          <p:nvPr/>
        </p:nvSpPr>
        <p:spPr>
          <a:xfrm>
            <a:off x="3873500" y="2931037"/>
            <a:ext cx="2921000" cy="152400"/>
          </a:xfrm>
          <a:prstGeom prst="leftArrow">
            <a:avLst/>
          </a:prstGeom>
          <a:solidFill>
            <a:srgbClr val="2E7D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5852F5-CEE8-A8B0-39CF-E2667583ECAC}"/>
              </a:ext>
            </a:extLst>
          </p:cNvPr>
          <p:cNvSpPr txBox="1"/>
          <p:nvPr/>
        </p:nvSpPr>
        <p:spPr>
          <a:xfrm>
            <a:off x="3873500" y="2702437"/>
            <a:ext cx="2921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1A1F2E"/>
                </a:solidFill>
              </a:rPr>
              <a:t>③  Sensitive Data / Keys Granted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F8177ED-876C-4EF7-F101-F8EF58D4E2C5}"/>
              </a:ext>
            </a:extLst>
          </p:cNvPr>
          <p:cNvSpPr/>
          <p:nvPr/>
        </p:nvSpPr>
        <p:spPr>
          <a:xfrm>
            <a:off x="254000" y="3571589"/>
            <a:ext cx="4318000" cy="969160"/>
          </a:xfrm>
          <a:prstGeom prst="roundRect">
            <a:avLst/>
          </a:prstGeom>
          <a:solidFill>
            <a:srgbClr val="2E7D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5B46CF-F427-0A3C-0B11-F66C33003404}"/>
              </a:ext>
            </a:extLst>
          </p:cNvPr>
          <p:cNvSpPr txBox="1"/>
          <p:nvPr/>
        </p:nvSpPr>
        <p:spPr>
          <a:xfrm>
            <a:off x="355600" y="3660489"/>
            <a:ext cx="4114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✓  Benefit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A1BD74-DD76-4C82-C881-463BD4334D94}"/>
              </a:ext>
            </a:extLst>
          </p:cNvPr>
          <p:cNvSpPr txBox="1"/>
          <p:nvPr/>
        </p:nvSpPr>
        <p:spPr>
          <a:xfrm>
            <a:off x="355600" y="3901789"/>
            <a:ext cx="4114800" cy="495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</a:rPr>
              <a:t>Cryptographic, hardware-rooted proof of the platform stack before any keys or sensitive data are released.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FD3B8A1-ABD3-38E7-DECD-C758965AE980}"/>
              </a:ext>
            </a:extLst>
          </p:cNvPr>
          <p:cNvSpPr/>
          <p:nvPr/>
        </p:nvSpPr>
        <p:spPr>
          <a:xfrm>
            <a:off x="4699000" y="3571589"/>
            <a:ext cx="4191000" cy="969160"/>
          </a:xfrm>
          <a:prstGeom prst="roundRect">
            <a:avLst/>
          </a:prstGeom>
          <a:solidFill>
            <a:srgbClr val="B4530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849752-0761-6246-77D1-CF62399F62A6}"/>
              </a:ext>
            </a:extLst>
          </p:cNvPr>
          <p:cNvSpPr txBox="1"/>
          <p:nvPr/>
        </p:nvSpPr>
        <p:spPr>
          <a:xfrm>
            <a:off x="4800600" y="3660489"/>
            <a:ext cx="3987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⚠  Limitation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9D1A08-C651-6272-A0D0-49D52FB5FD4F}"/>
              </a:ext>
            </a:extLst>
          </p:cNvPr>
          <p:cNvSpPr txBox="1"/>
          <p:nvPr/>
        </p:nvSpPr>
        <p:spPr>
          <a:xfrm>
            <a:off x="4800600" y="3901789"/>
            <a:ext cx="3987800" cy="616274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</a:rPr>
              <a:t>The workload sits outside the measurement boundary. Legitimate and malicious workloads produce identical attestation quotes — workload identity is unverified.</a:t>
            </a:r>
          </a:p>
        </p:txBody>
      </p:sp>
      <p:pic>
        <p:nvPicPr>
          <p:cNvPr id="43" name="Graphic 43" descr="Gear: legitimate workloa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4425" y="1693517"/>
            <a:ext cx="228600" cy="228600"/>
          </a:xfrm>
          <a:prstGeom prst="rect">
            <a:avLst/>
          </a:prstGeom>
        </p:spPr>
      </p:pic>
      <p:pic>
        <p:nvPicPr>
          <p:cNvPr id="44" name="Graphic 44" descr="Bug: malicious workloa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9625" y="1693517"/>
            <a:ext cx="228600" cy="228600"/>
          </a:xfrm>
          <a:prstGeom prst="rect">
            <a:avLst/>
          </a:prstGeom>
        </p:spPr>
      </p:pic>
      <p:pic>
        <p:nvPicPr>
          <p:cNvPr id="45" name="Copied Picture 45"/>
          <p:cNvPicPr preferRelativeResize="0"/>
          <p:nvPr/>
        </p:nvPicPr>
        <p:blipFill rotWithShape="1">
          <a:blip r:embed="rId6">
            <a:alphaModFix/>
            <a:duotone>
              <a:srgbClr val="0F3D2A"/>
              <a:srgbClr val="6FBF8F"/>
            </a:duotone>
          </a:blip>
          <a:srcRect/>
          <a:stretch/>
        </p:blipFill>
        <p:spPr>
          <a:xfrm>
            <a:off x="6959600" y="2724150"/>
            <a:ext cx="660400" cy="6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62;p17" descr="Make the cylinder 3 levels instead of 2.">
            <a:extLst>
              <a:ext uri="{FF2B5EF4-FFF2-40B4-BE49-F238E27FC236}">
                <a16:creationId xmlns:a16="http://schemas.microsoft.com/office/drawing/2014/main" id="{ECFF81C6-7406-57D9-48A0-6B82F1FA5B0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2077" t="13314" r="21791" b="12967"/>
          <a:stretch/>
        </p:blipFill>
        <p:spPr>
          <a:xfrm>
            <a:off x="7081525" y="1315414"/>
            <a:ext cx="779775" cy="102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920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BAC9-A650-6950-45BB-A75626A9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8BB8281-F4FA-2428-55AD-BAD18E9C620F}"/>
              </a:ext>
            </a:extLst>
          </p:cNvPr>
          <p:cNvSpPr/>
          <p:nvPr/>
        </p:nvSpPr>
        <p:spPr>
          <a:xfrm>
            <a:off x="762000" y="4570822"/>
            <a:ext cx="7620000" cy="406400"/>
          </a:xfrm>
          <a:prstGeom prst="roundRect">
            <a:avLst/>
          </a:prstGeom>
          <a:solidFill>
            <a:srgbClr val="1B4E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D82F70-C56B-20F7-BD9C-3B08330AA5AD}"/>
              </a:ext>
            </a:extLst>
          </p:cNvPr>
          <p:cNvSpPr txBox="1"/>
          <p:nvPr/>
        </p:nvSpPr>
        <p:spPr>
          <a:xfrm>
            <a:off x="254000" y="76200"/>
            <a:ext cx="863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1A1F2E"/>
                </a:solidFill>
              </a:rPr>
              <a:t>Measurement Boundary: Level 2 vs Level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39BFA4-F172-89CE-FA4B-5B311E943029}"/>
              </a:ext>
            </a:extLst>
          </p:cNvPr>
          <p:cNvSpPr txBox="1"/>
          <p:nvPr/>
        </p:nvSpPr>
        <p:spPr>
          <a:xfrm>
            <a:off x="254000" y="406400"/>
            <a:ext cx="863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6B7280"/>
                </a:solidFill>
              </a:rPr>
              <a:t>Identifying workloads - not just platforms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B1EA74-E0CF-9243-89E2-BA64EAAE2937}"/>
              </a:ext>
            </a:extLst>
          </p:cNvPr>
          <p:cNvSpPr txBox="1"/>
          <p:nvPr/>
        </p:nvSpPr>
        <p:spPr>
          <a:xfrm>
            <a:off x="381000" y="849425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E7D5C"/>
                </a:solidFill>
              </a:rPr>
              <a:t>Level 2: Platform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C2D00-AB87-B75F-D565-4D442DE170E8}"/>
              </a:ext>
            </a:extLst>
          </p:cNvPr>
          <p:cNvSpPr txBox="1"/>
          <p:nvPr/>
        </p:nvSpPr>
        <p:spPr>
          <a:xfrm>
            <a:off x="4699000" y="849425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6B3FA0"/>
                </a:solidFill>
              </a:rPr>
              <a:t>Level 3: Full Workload Measurement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03DBFD-30BA-0D05-C14F-CCCC5348D36C}"/>
              </a:ext>
            </a:extLst>
          </p:cNvPr>
          <p:cNvSpPr/>
          <p:nvPr/>
        </p:nvSpPr>
        <p:spPr>
          <a:xfrm>
            <a:off x="381000" y="1205025"/>
            <a:ext cx="4064000" cy="381000"/>
          </a:xfrm>
          <a:prstGeom prst="rect">
            <a:avLst/>
          </a:prstGeom>
          <a:solidFill>
            <a:srgbClr val="FBF1E5"/>
          </a:solidFill>
          <a:ln w="9525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B8CDA1-EB90-8737-508E-F3CE49DDB836}"/>
              </a:ext>
            </a:extLst>
          </p:cNvPr>
          <p:cNvSpPr txBox="1"/>
          <p:nvPr/>
        </p:nvSpPr>
        <p:spPr>
          <a:xfrm>
            <a:off x="431800" y="1268525"/>
            <a:ext cx="3962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 i="1">
                <a:solidFill>
                  <a:srgbClr val="B45309"/>
                </a:solidFill>
              </a:rPr>
              <a:t>Application Workload  ✕ NOT MEASURED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238A1F-9546-A86B-D5FE-C39A8762C83C}"/>
              </a:ext>
            </a:extLst>
          </p:cNvPr>
          <p:cNvSpPr/>
          <p:nvPr/>
        </p:nvSpPr>
        <p:spPr>
          <a:xfrm>
            <a:off x="381000" y="2451100"/>
            <a:ext cx="4064000" cy="50800"/>
          </a:xfrm>
          <a:prstGeom prst="rect">
            <a:avLst/>
          </a:prstGeom>
          <a:solidFill>
            <a:srgbClr val="B91C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C5108-1007-077F-61F2-55F0DBF0B5D1}"/>
              </a:ext>
            </a:extLst>
          </p:cNvPr>
          <p:cNvSpPr txBox="1"/>
          <p:nvPr/>
        </p:nvSpPr>
        <p:spPr>
          <a:xfrm>
            <a:off x="381000" y="-12700000"/>
            <a:ext cx="4064000" cy="10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FFCDD2"/>
                </a:solidFill>
              </a:rPr>
              <a:t>◆ End of Attestation Measurement ◆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1C531D-CB75-A0EE-8E17-B178DDFDBA58}"/>
              </a:ext>
            </a:extLst>
          </p:cNvPr>
          <p:cNvSpPr/>
          <p:nvPr/>
        </p:nvSpPr>
        <p:spPr>
          <a:xfrm>
            <a:off x="381000" y="2540000"/>
            <a:ext cx="4064000" cy="381000"/>
          </a:xfrm>
          <a:prstGeom prst="rect">
            <a:avLst/>
          </a:prstGeom>
          <a:solidFill>
            <a:srgbClr val="EAF4EF"/>
          </a:solidFill>
          <a:ln w="635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F9928E-7419-8B5A-676D-F6FE331BF140}"/>
              </a:ext>
            </a:extLst>
          </p:cNvPr>
          <p:cNvSpPr txBox="1"/>
          <p:nvPr/>
        </p:nvSpPr>
        <p:spPr>
          <a:xfrm>
            <a:off x="431800" y="2603500"/>
            <a:ext cx="3962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dirty="0">
                <a:solidFill>
                  <a:srgbClr val="1A1F2E"/>
                </a:solidFill>
              </a:rPr>
              <a:t>🔒  Guest Kernel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EC1465-72EA-33C3-7B26-126014F0E933}"/>
              </a:ext>
            </a:extLst>
          </p:cNvPr>
          <p:cNvSpPr/>
          <p:nvPr/>
        </p:nvSpPr>
        <p:spPr>
          <a:xfrm>
            <a:off x="381000" y="2922185"/>
            <a:ext cx="4064000" cy="381000"/>
          </a:xfrm>
          <a:prstGeom prst="rect">
            <a:avLst/>
          </a:prstGeom>
          <a:solidFill>
            <a:srgbClr val="D2E8DD"/>
          </a:solidFill>
          <a:ln w="635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1BE91-0186-8695-C086-412EF8542744}"/>
              </a:ext>
            </a:extLst>
          </p:cNvPr>
          <p:cNvSpPr txBox="1"/>
          <p:nvPr/>
        </p:nvSpPr>
        <p:spPr>
          <a:xfrm>
            <a:off x="431800" y="2985685"/>
            <a:ext cx="3962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1A1F2E"/>
                </a:solidFill>
              </a:rPr>
              <a:t>🔒  Virtual BIOS / EFI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1A59C0-626E-40EA-25B1-304F45568FDA}"/>
              </a:ext>
            </a:extLst>
          </p:cNvPr>
          <p:cNvSpPr/>
          <p:nvPr/>
        </p:nvSpPr>
        <p:spPr>
          <a:xfrm>
            <a:off x="381000" y="3684185"/>
            <a:ext cx="4064000" cy="381000"/>
          </a:xfrm>
          <a:prstGeom prst="rect">
            <a:avLst/>
          </a:prstGeom>
          <a:solidFill>
            <a:srgbClr val="5FA587"/>
          </a:solidFill>
          <a:ln w="635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B2B0E2-5CDB-728D-DEAF-17D116086923}"/>
              </a:ext>
            </a:extLst>
          </p:cNvPr>
          <p:cNvSpPr txBox="1"/>
          <p:nvPr/>
        </p:nvSpPr>
        <p:spPr>
          <a:xfrm>
            <a:off x="431800" y="3747685"/>
            <a:ext cx="3962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🔒  Firmware / Microcode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A8DDD5-FA3F-FDF9-D928-8810299929D6}"/>
              </a:ext>
            </a:extLst>
          </p:cNvPr>
          <p:cNvSpPr/>
          <p:nvPr/>
        </p:nvSpPr>
        <p:spPr>
          <a:xfrm>
            <a:off x="381000" y="4065185"/>
            <a:ext cx="4064000" cy="381000"/>
          </a:xfrm>
          <a:prstGeom prst="rect">
            <a:avLst/>
          </a:prstGeom>
          <a:solidFill>
            <a:srgbClr val="2E7D5C"/>
          </a:solidFill>
          <a:ln w="635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4D731D-A8EC-0570-4FB3-1D8CFF17F439}"/>
              </a:ext>
            </a:extLst>
          </p:cNvPr>
          <p:cNvSpPr txBox="1"/>
          <p:nvPr/>
        </p:nvSpPr>
        <p:spPr>
          <a:xfrm>
            <a:off x="431800" y="4128685"/>
            <a:ext cx="3962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🔒  Hardware Root of Trust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F2A83F-7DC5-8DFF-A716-1967F4F49337}"/>
              </a:ext>
            </a:extLst>
          </p:cNvPr>
          <p:cNvSpPr/>
          <p:nvPr/>
        </p:nvSpPr>
        <p:spPr>
          <a:xfrm>
            <a:off x="4699000" y="2922185"/>
            <a:ext cx="4064000" cy="381000"/>
          </a:xfrm>
          <a:prstGeom prst="rect">
            <a:avLst/>
          </a:prstGeom>
          <a:solidFill>
            <a:srgbClr val="D2E8DD"/>
          </a:solidFill>
          <a:ln w="635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14A4B4-2272-DDE4-33BD-3C00B667DA09}"/>
              </a:ext>
            </a:extLst>
          </p:cNvPr>
          <p:cNvSpPr txBox="1"/>
          <p:nvPr/>
        </p:nvSpPr>
        <p:spPr>
          <a:xfrm>
            <a:off x="4749800" y="2985685"/>
            <a:ext cx="3962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dirty="0">
                <a:solidFill>
                  <a:srgbClr val="1A1F2E"/>
                </a:solidFill>
              </a:rPr>
              <a:t>🔒  Virtual BIOS / EFI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9EC856-D012-F5E6-8B78-27CE60DB76C4}"/>
              </a:ext>
            </a:extLst>
          </p:cNvPr>
          <p:cNvSpPr/>
          <p:nvPr/>
        </p:nvSpPr>
        <p:spPr>
          <a:xfrm>
            <a:off x="4699000" y="3303185"/>
            <a:ext cx="4064000" cy="381000"/>
          </a:xfrm>
          <a:prstGeom prst="rect">
            <a:avLst/>
          </a:prstGeom>
          <a:solidFill>
            <a:srgbClr val="ABD3BD"/>
          </a:solidFill>
          <a:ln w="635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595F84-3CD3-5176-1F79-8606A141998B}"/>
              </a:ext>
            </a:extLst>
          </p:cNvPr>
          <p:cNvSpPr txBox="1"/>
          <p:nvPr/>
        </p:nvSpPr>
        <p:spPr>
          <a:xfrm>
            <a:off x="4749800" y="3366685"/>
            <a:ext cx="3962400" cy="254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l"/>
            <a:r>
              <a:rPr lang="en-US" b="1" dirty="0">
                <a:solidFill>
                  <a:srgbClr val="1A1F2E"/>
                </a:solidFill>
              </a:rPr>
              <a:t>🔒  Qemu Options / Cmd Line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96A30D-0F3B-7725-1790-082BFC8B6D81}"/>
              </a:ext>
            </a:extLst>
          </p:cNvPr>
          <p:cNvSpPr/>
          <p:nvPr/>
        </p:nvSpPr>
        <p:spPr>
          <a:xfrm>
            <a:off x="4699000" y="3684185"/>
            <a:ext cx="4064000" cy="381000"/>
          </a:xfrm>
          <a:prstGeom prst="rect">
            <a:avLst/>
          </a:prstGeom>
          <a:solidFill>
            <a:srgbClr val="5FA587"/>
          </a:solidFill>
          <a:ln w="635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F1325-3346-547A-717E-F201678FDFD2}"/>
              </a:ext>
            </a:extLst>
          </p:cNvPr>
          <p:cNvSpPr txBox="1"/>
          <p:nvPr/>
        </p:nvSpPr>
        <p:spPr>
          <a:xfrm>
            <a:off x="4749800" y="3747685"/>
            <a:ext cx="3962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🔒  Firmware / Microcode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A06668-6FCD-85CC-145C-1ECFD7C01AED}"/>
              </a:ext>
            </a:extLst>
          </p:cNvPr>
          <p:cNvSpPr/>
          <p:nvPr/>
        </p:nvSpPr>
        <p:spPr>
          <a:xfrm>
            <a:off x="4699000" y="4065185"/>
            <a:ext cx="4064000" cy="381000"/>
          </a:xfrm>
          <a:prstGeom prst="rect">
            <a:avLst/>
          </a:prstGeom>
          <a:solidFill>
            <a:srgbClr val="2E7D5C"/>
          </a:solidFill>
          <a:ln w="635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8AE909-0CAD-53EA-3A2E-AD81264748E8}"/>
              </a:ext>
            </a:extLst>
          </p:cNvPr>
          <p:cNvSpPr txBox="1"/>
          <p:nvPr/>
        </p:nvSpPr>
        <p:spPr>
          <a:xfrm>
            <a:off x="4749800" y="4128685"/>
            <a:ext cx="3962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🔒  Hardware Root of Trust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E651D6-DD8B-94BF-FC00-23DF0D14CA54}"/>
              </a:ext>
            </a:extLst>
          </p:cNvPr>
          <p:cNvSpPr txBox="1"/>
          <p:nvPr/>
        </p:nvSpPr>
        <p:spPr>
          <a:xfrm>
            <a:off x="762000" y="4596222"/>
            <a:ext cx="7542028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FFFFFF"/>
                </a:solidFill>
              </a:rPr>
              <a:t>Level 3 attestation includes the workload's identity and integrity — not just the platform it runs on.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1B36F7-0E5A-6D5F-5DAB-2E41BD20E634}"/>
              </a:ext>
            </a:extLst>
          </p:cNvPr>
          <p:cNvSpPr/>
          <p:nvPr/>
        </p:nvSpPr>
        <p:spPr>
          <a:xfrm>
            <a:off x="381000" y="1586025"/>
            <a:ext cx="4064000" cy="381000"/>
          </a:xfrm>
          <a:prstGeom prst="rect">
            <a:avLst/>
          </a:prstGeom>
          <a:solidFill>
            <a:srgbClr val="FBF1E5"/>
          </a:solidFill>
          <a:ln w="9525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851EB6-2E8A-9F92-3C2E-ECE1BBDEA9CD}"/>
              </a:ext>
            </a:extLst>
          </p:cNvPr>
          <p:cNvSpPr txBox="1"/>
          <p:nvPr/>
        </p:nvSpPr>
        <p:spPr>
          <a:xfrm>
            <a:off x="431800" y="1649525"/>
            <a:ext cx="3962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 i="1">
                <a:solidFill>
                  <a:srgbClr val="B45309"/>
                </a:solidFill>
              </a:rPr>
              <a:t>Middleware / Runtime  ✕ NOT MEASURED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7B76C-20CE-7ED9-EF5C-6AB199200E62}"/>
              </a:ext>
            </a:extLst>
          </p:cNvPr>
          <p:cNvSpPr/>
          <p:nvPr/>
        </p:nvSpPr>
        <p:spPr>
          <a:xfrm>
            <a:off x="381000" y="3305254"/>
            <a:ext cx="4064000" cy="381000"/>
          </a:xfrm>
          <a:prstGeom prst="rect">
            <a:avLst/>
          </a:prstGeom>
          <a:solidFill>
            <a:srgbClr val="ABD3BD"/>
          </a:solidFill>
          <a:ln w="635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FF315A-6AAF-8E9F-FE1C-400424F0044B}"/>
              </a:ext>
            </a:extLst>
          </p:cNvPr>
          <p:cNvSpPr txBox="1"/>
          <p:nvPr/>
        </p:nvSpPr>
        <p:spPr>
          <a:xfrm>
            <a:off x="431800" y="3368754"/>
            <a:ext cx="3842488" cy="24986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100">
                <a:solidFill>
                  <a:srgbClr val="0D3F12"/>
                </a:solidFill>
              </a:defRPr>
            </a:lvl1pPr>
          </a:lstStyle>
          <a:p>
            <a:pPr algn="l"/>
            <a:r>
              <a:rPr lang="en-US" dirty="0">
                <a:solidFill>
                  <a:srgbClr val="1A1F2E"/>
                </a:solidFill>
              </a:rPr>
              <a:t>🔒  Qemu Options / Cmd Line</a:t>
            </a:r>
          </a:p>
        </p:txBody>
      </p:sp>
      <p:sp>
        <p:nvSpPr>
          <p:cNvPr id="42" name="Rectangle 1">
            <a:extLst>
              <a:ext uri="{FF2B5EF4-FFF2-40B4-BE49-F238E27FC236}">
                <a16:creationId xmlns:a16="http://schemas.microsoft.com/office/drawing/2014/main" id="{70F9DD99-C920-E80C-5FB0-FDE9A192B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0" y="2708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CE345D-65DB-9986-B66D-38612EFE90CE}"/>
              </a:ext>
            </a:extLst>
          </p:cNvPr>
          <p:cNvSpPr txBox="1"/>
          <p:nvPr/>
        </p:nvSpPr>
        <p:spPr>
          <a:xfrm>
            <a:off x="381000" y="2222500"/>
            <a:ext cx="39624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fontAlgn="t">
              <a:buNone/>
            </a:pPr>
            <a:r>
              <a:rPr lang="en-US" sz="900" i="1" dirty="0">
                <a:solidFill>
                  <a:srgbClr val="B91C1C"/>
                </a:solidFill>
              </a:rPr>
              <a:t>◆ End of Measurement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E7BBD21-6BD3-0C03-4965-0213AC2F20BD}"/>
              </a:ext>
            </a:extLst>
          </p:cNvPr>
          <p:cNvSpPr/>
          <p:nvPr/>
        </p:nvSpPr>
        <p:spPr>
          <a:xfrm>
            <a:off x="4699000" y="1205025"/>
            <a:ext cx="4064000" cy="381000"/>
          </a:xfrm>
          <a:prstGeom prst="rect">
            <a:avLst/>
          </a:prstGeom>
          <a:solidFill>
            <a:srgbClr val="4A148C"/>
          </a:solidFill>
          <a:ln w="6350" cap="flat" cmpd="sng" algn="ctr">
            <a:solidFill>
              <a:srgbClr val="311B9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1AAF38-DF0D-0377-C2CC-E83509BCE5DC}"/>
              </a:ext>
            </a:extLst>
          </p:cNvPr>
          <p:cNvSpPr txBox="1"/>
          <p:nvPr/>
        </p:nvSpPr>
        <p:spPr>
          <a:xfrm>
            <a:off x="4749800" y="1268525"/>
            <a:ext cx="3962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🔒  Application Workload  ✓ MEASURED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BE3388D-DA7F-C8BE-F643-8997C9FDBB1E}"/>
              </a:ext>
            </a:extLst>
          </p:cNvPr>
          <p:cNvSpPr/>
          <p:nvPr/>
        </p:nvSpPr>
        <p:spPr>
          <a:xfrm>
            <a:off x="4699000" y="1586025"/>
            <a:ext cx="4064000" cy="381000"/>
          </a:xfrm>
          <a:prstGeom prst="rect">
            <a:avLst/>
          </a:prstGeom>
          <a:solidFill>
            <a:srgbClr val="6A1B9A"/>
          </a:solidFill>
          <a:ln w="6350" cap="flat" cmpd="sng" algn="ctr">
            <a:solidFill>
              <a:srgbClr val="4A148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7B6D76-F6CC-C800-0797-97C2C7520A3C}"/>
              </a:ext>
            </a:extLst>
          </p:cNvPr>
          <p:cNvSpPr txBox="1"/>
          <p:nvPr/>
        </p:nvSpPr>
        <p:spPr>
          <a:xfrm>
            <a:off x="4749800" y="1649525"/>
            <a:ext cx="3962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</a:rPr>
              <a:t>🔒  Middleware / Runtime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3417B48-8A38-8CFC-63CE-F5E150BB3723}"/>
              </a:ext>
            </a:extLst>
          </p:cNvPr>
          <p:cNvSpPr/>
          <p:nvPr/>
        </p:nvSpPr>
        <p:spPr>
          <a:xfrm>
            <a:off x="4699000" y="1971159"/>
            <a:ext cx="4064000" cy="381000"/>
          </a:xfrm>
          <a:prstGeom prst="rect">
            <a:avLst/>
          </a:prstGeom>
          <a:solidFill>
            <a:srgbClr val="8E24AA"/>
          </a:solidFill>
          <a:ln w="6350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B9ADE7-4F1D-525A-ED0F-5930A0B5CC2A}"/>
              </a:ext>
            </a:extLst>
          </p:cNvPr>
          <p:cNvSpPr txBox="1"/>
          <p:nvPr/>
        </p:nvSpPr>
        <p:spPr>
          <a:xfrm>
            <a:off x="4749800" y="2055627"/>
            <a:ext cx="3962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</a:rPr>
              <a:t>🔒  Runtime Measurement Agent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071832-576F-99DA-71CA-B06783CC6EAE}"/>
              </a:ext>
            </a:extLst>
          </p:cNvPr>
          <p:cNvSpPr/>
          <p:nvPr/>
        </p:nvSpPr>
        <p:spPr>
          <a:xfrm>
            <a:off x="4699000" y="2541774"/>
            <a:ext cx="4064000" cy="381000"/>
          </a:xfrm>
          <a:prstGeom prst="rect">
            <a:avLst/>
          </a:prstGeom>
          <a:solidFill>
            <a:srgbClr val="EAF4EF"/>
          </a:solidFill>
          <a:ln w="6350">
            <a:solidFill>
              <a:srgbClr val="2E7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8283EF-B4AC-7C78-7DC0-5DA775E1D0C3}"/>
              </a:ext>
            </a:extLst>
          </p:cNvPr>
          <p:cNvSpPr txBox="1"/>
          <p:nvPr/>
        </p:nvSpPr>
        <p:spPr>
          <a:xfrm>
            <a:off x="4749800" y="2605274"/>
            <a:ext cx="3962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dirty="0">
                <a:solidFill>
                  <a:srgbClr val="1A1F2E"/>
                </a:solidFill>
              </a:rPr>
              <a:t>🔒  Guest Kernel</a:t>
            </a:r>
          </a:p>
        </p:txBody>
      </p:sp>
    </p:spTree>
    <p:extLst>
      <p:ext uri="{BB962C8B-B14F-4D97-AF65-F5344CB8AC3E}">
        <p14:creationId xmlns:p14="http://schemas.microsoft.com/office/powerpoint/2010/main" val="232664508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591904-3030-F14E-92EC-4AE3528E105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2356f6e-e8e2-455c-a004-d077a07e541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4919</TotalTime>
  <Words>356</Words>
  <Application>Microsoft Macintosh PowerPoint</Application>
  <PresentationFormat>On-screen Show (16:9)</PresentationFormat>
  <Paragraphs>74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 Middleton</cp:lastModifiedBy>
  <cp:revision>8</cp:revision>
  <dcterms:modified xsi:type="dcterms:W3CDTF">2026-05-21T16:18:52Z</dcterms:modified>
</cp:coreProperties>
</file>